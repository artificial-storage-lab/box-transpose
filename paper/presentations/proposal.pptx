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Proposal for an in-place GPU tensor permutation system. Six components follow, numbered to the grading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1. The split follows where each part of the work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2. The problem is peak memory, not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3, part one: difficulty.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3, part two: the proposed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3, part three. Every figure is generated from raw_data/plan_sweep, which is committed and CPU-only.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4. Correctness is checked against the framework's own out-of-place permutation and gates every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5. Owners match the title page. The schedule lives in pipeline/tables/gen_table_timeline.py.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7400"/>
            <a:ext cx="109115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 i="0">
                <a:solidFill>
                  <a:srgbClr val="F2F1EE"/>
                </a:solidFill>
                <a:latin typeface="Cambria"/>
              </a:rPr>
              <a:t>Box Transpose</a:t>
            </a:r>
          </a:p>
          <a:p>
            <a:pPr algn="l">
              <a:spcAft>
                <a:spcPts val="0"/>
              </a:spcAft>
            </a:pPr>
            <a:r>
              <a:rPr sz="2300" b="0" i="1">
                <a:solidFill>
                  <a:srgbClr val="B9B6B0"/>
                </a:solidFill>
                <a:latin typeface="Cambria"/>
              </a:rPr>
              <a:t>In-place N-dimensional tensor permutation on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041648"/>
            <a:ext cx="13716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407408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2F1EE"/>
                </a:solidFill>
                <a:latin typeface="Calibri"/>
              </a:rPr>
              <a:t>Kaveen Jayamanna   ·   Alexis Newman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B9B6B0"/>
                </a:solidFill>
                <a:latin typeface="Calibri"/>
              </a:rPr>
              <a:t>Kennesaw State University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B9B6B0"/>
                </a:solidFill>
                <a:latin typeface="Calibri"/>
              </a:rPr>
              <a:t>CS 8045 Advanced Algorithms   ·   Project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457200"/>
            <a:ext cx="101617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C1B18"/>
                </a:solidFill>
                <a:latin typeface="Cambria"/>
              </a:rPr>
              <a:t>Team and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5227167" cy="324612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7" y="1956816"/>
            <a:ext cx="713232" cy="71323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KJ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1952" y="2029967"/>
            <a:ext cx="3581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C1B18"/>
                </a:solidFill>
                <a:latin typeface="Cambria"/>
              </a:rPr>
              <a:t>Kaveen Jayamanna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962656"/>
            <a:ext cx="445907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Planner and cost model: the box-swap graph, the shortest-path search, and the calibrated constants.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The in-place cycle-following CUDA kernel, scalar and vectorised.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572768"/>
            <a:ext cx="5227167" cy="324612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08495" y="1956816"/>
            <a:ext cx="713232" cy="713232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6319" y="2029967"/>
            <a:ext cx="3581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C1B18"/>
                </a:solidFill>
                <a:latin typeface="Cambria"/>
              </a:rPr>
              <a:t>Alexis Newman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8495" y="2962656"/>
            <a:ext cx="445907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Measurement and validation: the throughput micro-benchmark that calibrates the cost model.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Correctness suite, the end-to-end comparison, and the head-to-head against prior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932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A65"/>
                </a:solidFill>
                <a:latin typeface="Calibri"/>
              </a:rPr>
              <a:t>Both members share the write-up and the final presentation. Every milestone in component 5 names a single owner.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457200"/>
            <a:ext cx="101617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C1B18"/>
                </a:solidFill>
                <a:latin typeface="Cambria"/>
              </a:rPr>
              <a:t>Statement of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520430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C1B18"/>
                </a:solidFill>
                <a:latin typeface="Cambria"/>
              </a:rPr>
              <a:t>permute and transpose are free. The copy afterwards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87168"/>
            <a:ext cx="5204307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0" i="0">
                <a:solidFill>
                  <a:srgbClr val="1C1B18"/>
                </a:solidFill>
                <a:latin typeface="Calibri"/>
              </a:rPr>
              <a:t>They reorder axes by changing tensor metadata, leaving a strided, non-contiguous layout.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0" i="0">
                <a:solidFill>
                  <a:srgbClr val="1C1B18"/>
                </a:solidFill>
                <a:latin typeface="Calibri"/>
              </a:rPr>
              <a:t>Downstream operators need a contiguous layout. PyTorch resolves that with .contiguous(), which allocates a second tensor and copies every element.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0" i="0">
                <a:solidFill>
                  <a:srgbClr val="1C1B18"/>
                </a:solidFill>
                <a:latin typeface="Calibri"/>
              </a:rPr>
              <a:t>Both tensors exist at once, so a single conversion can approach twice the footprint of the tensor. That is an out-of-memory failure on a large tensor, plus heap fragmentation.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47307" y="1572768"/>
            <a:ext cx="5204307" cy="3986784"/>
          </a:xfrm>
          <a:prstGeom prst="roundRect">
            <a:avLst/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1355" y="1920240"/>
            <a:ext cx="44362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B6834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355" y="2414016"/>
            <a:ext cx="4436211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Decompose any permutation into steps that are each a single in-place matrix transpose.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Choose the cheapest decomposition by search, not the first one found.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Keep auxiliary space independent of the tensor size.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Beat the memory ceiling of .contiguous(), and be no slower where both fit.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457200"/>
            <a:ext cx="101617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C1B18"/>
                </a:solidFill>
                <a:latin typeface="Cambria"/>
              </a:rPr>
              <a:t>Why this is hard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3381146" cy="3913632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7" y="1984248"/>
            <a:ext cx="512064" cy="512064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7" y="2715768"/>
            <a:ext cx="261305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C1B18"/>
                </a:solidFill>
                <a:latin typeface="Cambria"/>
              </a:rPr>
              <a:t>No closed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3621024"/>
            <a:ext cx="261305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C1B18"/>
                </a:solidFill>
                <a:latin typeface="Calibri"/>
              </a:rPr>
              <a:t>A matrix transpose has a closed-form index map, so its cycles can be followed. An arbitrary permutation over r axes does not. Computing its cycles directly costs Θ(N) work and Θ(N) state, which is what we are trying to avoid.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5274" y="1572768"/>
            <a:ext cx="3381146" cy="3913632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89322" y="1984248"/>
            <a:ext cx="512064" cy="512064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9322" y="2715768"/>
            <a:ext cx="261305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C1B18"/>
                </a:solidFill>
                <a:latin typeface="Cambria"/>
              </a:rPr>
              <a:t>Choices are not equal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9322" y="3621024"/>
            <a:ext cx="261305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C1B18"/>
                </a:solidFill>
                <a:latin typeface="Calibri"/>
              </a:rPr>
              <a:t>Each step rewrites the whole buffer, so k steps cost roughly k passes over memory. A decomposition that is shorter in steps can still move more bytes. Choosing well is a search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0468" y="1572768"/>
            <a:ext cx="3381146" cy="3913632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54516" y="1984248"/>
            <a:ext cx="512064" cy="512064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4516" y="2715768"/>
            <a:ext cx="261305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C1B18"/>
                </a:solidFill>
                <a:latin typeface="Cambria"/>
              </a:rPr>
              <a:t>Access is the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4516" y="3621024"/>
            <a:ext cx="261305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C1B18"/>
                </a:solidFill>
                <a:latin typeface="Calibri"/>
              </a:rPr>
              <a:t>A permutation does no arithmetic. Throughput is strongly non-linear in the stride, so the cost model has to be calibrated against the hardware rather than counted from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3328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A65"/>
                </a:solidFill>
                <a:latin typeface="Calibri"/>
              </a:rPr>
              <a:t>The search space is r! orderings of the axes, so an exhaustive comparison is out of reach at the ranks that matter.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457200"/>
            <a:ext cx="101617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C1B18"/>
                </a:solidFill>
                <a:latin typeface="Cambria"/>
              </a:rPr>
              <a:t>Proposed method: adjacent box swaps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C1B18"/>
                </a:solidFill>
                <a:latin typeface="Calibri"/>
              </a:rPr>
              <a:t>A box is a run of neighbouring axes treated as one unit. A swap exchanges two adjacent boxes, and reduces exactly to an in-place transpose of a rows × cols 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A65"/>
                </a:solidFill>
                <a:latin typeface="Calibri"/>
              </a:rPr>
              <a:t>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07208"/>
            <a:ext cx="1389888" cy="713232"/>
          </a:xfrm>
          <a:prstGeom prst="roundRect">
            <a:avLst/>
          </a:prstGeom>
          <a:solidFill>
            <a:srgbClr val="EE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1B18"/>
                </a:solidFill>
                <a:latin typeface="Calibri"/>
              </a:rPr>
              <a:t>a0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807208"/>
            <a:ext cx="1389888" cy="71323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59" y="2807208"/>
            <a:ext cx="1389888" cy="71323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19" y="2807208"/>
            <a:ext cx="1389888" cy="713232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A65"/>
                </a:solidFill>
                <a:latin typeface="Calibri"/>
              </a:rPr>
              <a:t>after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81728"/>
            <a:ext cx="1389888" cy="713232"/>
          </a:xfrm>
          <a:prstGeom prst="roundRect">
            <a:avLst/>
          </a:prstGeom>
          <a:solidFill>
            <a:srgbClr val="EE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1B18"/>
                </a:solidFill>
                <a:latin typeface="Calibri"/>
              </a:rPr>
              <a:t>a0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681728"/>
            <a:ext cx="1389888" cy="713232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59" y="4681728"/>
            <a:ext cx="1389888" cy="71323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19" y="4681728"/>
            <a:ext cx="1389888" cy="71323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66160" y="3675888"/>
            <a:ext cx="512064" cy="621792"/>
          </a:xfrm>
          <a:prstGeom prst="downArrow">
            <a:avLst/>
          </a:prstGeom>
          <a:solidFill>
            <a:srgbClr val="C9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825496"/>
            <a:ext cx="4602175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The blue box is two axes moved as one. That is the move a single-axis baseline cannot make.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D_post, everything to the right of the swap, is the length of each contiguous run moved. It decides whether the step is fast, and whether the vectorised kernel applies.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Edges are weighted by bytes moved over calibrated throughput, and Dijkstra returns the cheapest decomposition.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457200"/>
            <a:ext cx="101617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2F1EE"/>
                </a:solidFill>
                <a:latin typeface="Cambria"/>
              </a:rPr>
              <a:t>Evidence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9B6B0"/>
                </a:solidFill>
                <a:latin typeface="Calibri"/>
              </a:rPr>
              <a:t>204 sampled shape and permutation pairs, ranks 2 to 6, planned both ways. A working prototype produced these, not an estimate.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21408"/>
            <a:ext cx="2487853" cy="1783080"/>
          </a:xfrm>
          <a:prstGeom prst="roundRect">
            <a:avLst/>
          </a:prstGeom>
          <a:solidFill>
            <a:srgbClr val="2B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19392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2A78D6"/>
                </a:solidFill>
                <a:latin typeface="Cambria"/>
              </a:rPr>
              <a:t>2.0×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27248"/>
            <a:ext cx="19392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0" i="0">
                <a:solidFill>
                  <a:srgbClr val="B9B6B0"/>
                </a:solidFill>
                <a:latin typeface="Calibri"/>
              </a:rPr>
              <a:t>fewer swaps than the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0" i="0">
                <a:solidFill>
                  <a:srgbClr val="B9B6B0"/>
                </a:solidFill>
                <a:latin typeface="Calibri"/>
              </a:rPr>
              <a:t>adjacent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973" y="2121408"/>
            <a:ext cx="2487853" cy="1783080"/>
          </a:xfrm>
          <a:prstGeom prst="roundRect">
            <a:avLst/>
          </a:prstGeom>
          <a:solidFill>
            <a:srgbClr val="2B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2293" y="2359152"/>
            <a:ext cx="19392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2A78D6"/>
                </a:solidFill>
                <a:latin typeface="Cambria"/>
              </a:rPr>
              <a:t>2.0×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2293" y="3127248"/>
            <a:ext cx="19392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0" i="0">
                <a:solidFill>
                  <a:srgbClr val="B9B6B0"/>
                </a:solidFill>
                <a:latin typeface="Calibri"/>
              </a:rPr>
              <a:t>fewer bytes moved,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0" i="0">
                <a:solidFill>
                  <a:srgbClr val="B9B6B0"/>
                </a:solidFill>
                <a:latin typeface="Calibri"/>
              </a:rPr>
              <a:t>median over all pairs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121408"/>
            <a:ext cx="2487853" cy="1783080"/>
          </a:xfrm>
          <a:prstGeom prst="roundRect">
            <a:avLst/>
          </a:prstGeom>
          <a:solidFill>
            <a:srgbClr val="2B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2359152"/>
            <a:ext cx="19392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B6834"/>
                </a:solidFill>
                <a:latin typeface="Cambria"/>
              </a:rPr>
              <a:t>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3127248"/>
            <a:ext cx="19392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0" i="0">
                <a:solidFill>
                  <a:srgbClr val="B9B6B0"/>
                </a:solidFill>
                <a:latin typeface="Calibri"/>
              </a:rPr>
              <a:t>of selected swaps bundle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0" i="0">
                <a:solidFill>
                  <a:srgbClr val="B9B6B0"/>
                </a:solidFill>
                <a:latin typeface="Calibri"/>
              </a:rPr>
              <a:t>more than one axis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3761" y="2121408"/>
            <a:ext cx="2487853" cy="1783080"/>
          </a:xfrm>
          <a:prstGeom prst="roundRect">
            <a:avLst/>
          </a:prstGeom>
          <a:solidFill>
            <a:srgbClr val="2B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8081" y="2359152"/>
            <a:ext cx="19392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B6834"/>
                </a:solidFill>
                <a:latin typeface="Cambria"/>
              </a:rPr>
              <a:t>2.31%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8081" y="3127248"/>
            <a:ext cx="19392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0" i="0">
                <a:solidFill>
                  <a:srgbClr val="B9B6B0"/>
                </a:solidFill>
                <a:latin typeface="Calibri"/>
              </a:rPr>
              <a:t>of the tensor is the worst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0" i="0">
                <a:solidFill>
                  <a:srgbClr val="B9B6B0"/>
                </a:solidFill>
                <a:latin typeface="Calibri"/>
              </a:rPr>
              <a:t>auxiliary footprint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0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9B6B0"/>
                </a:solidFill>
                <a:latin typeface="Calibri"/>
              </a:rPr>
              <a:t>MEDIAN SWAPS PER PERMUTATION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642991"/>
            <a:ext cx="420624" cy="154305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5405247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EB6834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8488" y="5642991"/>
            <a:ext cx="420624" cy="154305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45336" y="5405247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870448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9B6B0"/>
                </a:solidFill>
                <a:latin typeface="Calibri"/>
              </a:rPr>
              <a:t>rank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12264" y="5488686"/>
            <a:ext cx="420624" cy="30861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9112" y="5250942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EB6834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87752" y="5642991"/>
            <a:ext cx="420624" cy="154305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5405247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870448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9B6B0"/>
                </a:solidFill>
                <a:latin typeface="Calibri"/>
              </a:rPr>
              <a:t>rank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528" y="5334381"/>
            <a:ext cx="420624" cy="462915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08376" y="5096637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EB6834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57016" y="5488686"/>
            <a:ext cx="420624" cy="30861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83864" y="5250942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8376" y="5870448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9B6B0"/>
                </a:solidFill>
                <a:latin typeface="Calibri"/>
              </a:rPr>
              <a:t>rank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50791" y="5025771"/>
            <a:ext cx="420624" cy="771525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4788027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EB6834"/>
                </a:solidFill>
                <a:latin typeface="Calibri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79" y="5488686"/>
            <a:ext cx="420624" cy="30861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7" y="5250942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5870448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9B6B0"/>
                </a:solidFill>
                <a:latin typeface="Calibri"/>
              </a:rPr>
              <a:t>rank 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0056" y="4562856"/>
            <a:ext cx="420624" cy="1234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46904" y="4325112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EB6834"/>
                </a:solidFill>
                <a:latin typeface="Calibri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95544" y="5411533"/>
            <a:ext cx="420624" cy="38576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22392" y="5173789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2.5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46904" y="5870448"/>
            <a:ext cx="10424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9B6B0"/>
                </a:solidFill>
                <a:latin typeface="Calibri"/>
              </a:rPr>
              <a:t>rank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4882896"/>
            <a:ext cx="237744" cy="23774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4882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F1EE"/>
                </a:solidFill>
                <a:latin typeface="Calibri"/>
              </a:rPr>
              <a:t>adjacent baseline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5266944"/>
            <a:ext cx="237744" cy="2377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52669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F1EE"/>
                </a:solidFill>
                <a:latin typeface="Calibri"/>
              </a:rPr>
              <a:t>box search (ours)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614416"/>
            <a:ext cx="487649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B9B6B0"/>
                </a:solidFill>
                <a:latin typeface="Calibri"/>
              </a:rPr>
              <a:t>At rank 6 the median permutation costs the baseline 8 swaps and the search 2.5. The gap widens with rank.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457200"/>
            <a:ext cx="101617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C1B18"/>
                </a:solidFill>
                <a:latin typeface="Cambria"/>
              </a:rPr>
              <a:t>Simulation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52043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BENCHMARK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20430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C1B18"/>
                </a:solidFill>
                <a:latin typeface="Calibri"/>
              </a:rPr>
              <a:t>Shapes are not hand-picked. For N elements at rank r, every valid shape is enumerated by prime-factorising N and spreading the exponents across the dimensions.</a:t>
            </a:r>
          </a:p>
        </p:txBody>
      </p:sp>
      <p:pic>
        <p:nvPicPr>
          <p:cNvPr id="6" name="Picture 5" descr="equation-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973" y="3054096"/>
            <a:ext cx="4160520" cy="871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151376"/>
            <a:ext cx="520430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300" b="0" i="0">
                <a:solidFill>
                  <a:srgbClr val="1C1B18"/>
                </a:solidFill>
                <a:latin typeface="Calibri"/>
              </a:rPr>
              <a:t>We fix N at 40,320 elements and sweep ranks 2 to 6, drawing 12 shapes per rank and up to 4 permutations per shape. At rank 6 the space holds 598,752 shapes, so sampling is the only option.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1">
                <a:solidFill>
                  <a:srgbClr val="6B6A65"/>
                </a:solidFill>
                <a:latin typeface="Calibri"/>
              </a:rPr>
              <a:t>This is the construction the Cycle Splitter evaluation uses, so the two sets of results stay comparable.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7307" y="1572768"/>
            <a:ext cx="5204307" cy="2395728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1355" y="1892807"/>
            <a:ext cx="44362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355" y="2395728"/>
            <a:ext cx="4436211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1C1B18"/>
                </a:solidFill>
                <a:latin typeface="Calibri"/>
              </a:rPr>
              <a:t>Planner and cost model in Python, standard library only. No GPU needed, so the planner results reproduce anywhere.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1C1B18"/>
                </a:solidFill>
                <a:latin typeface="Calibri"/>
              </a:rPr>
              <a:t>Kernel in CUDA C++, JIT-compiled by PyTorch. Pinned in an NGC container. Development hardware is an RTX PRO 6000 Blackwell.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7307" y="4270248"/>
            <a:ext cx="5204307" cy="173736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355" y="4608576"/>
            <a:ext cx="44362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355" y="5084064"/>
            <a:ext cx="44362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C1B18"/>
                </a:solidFill>
                <a:latin typeface="Calibri"/>
              </a:rPr>
              <a:t>Bytes moved  ·  swap count  ·  auxiliary bytes  ·  achieved throughput (GB/s)  ·  end-to-end latency and peak memory against .contiguous()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457200"/>
            <a:ext cx="101617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C1B18"/>
                </a:solidFill>
                <a:latin typeface="Cambria"/>
              </a:rPr>
              <a:t>Milestones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B6A65"/>
                </a:solidFill>
                <a:latin typeface="Calibri"/>
              </a:rPr>
              <a:t>10 weeks from proposal to final report. Calibration is front-loaded, so every later measurement is read through a validated cost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20824"/>
            <a:ext cx="10911535" cy="42976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066544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2098548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Proposal submitted. Planner sweep committed and reproducible.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71455" y="2080260"/>
            <a:ext cx="493776" cy="30175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KJ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38383" y="2080260"/>
            <a:ext cx="493776" cy="301752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496312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528316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Re-derive τ from a D_post micro-benchmark on the evaluation GPU, then restore graph pruning.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8383" y="2510028"/>
            <a:ext cx="493776" cy="301752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10911535" cy="42976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2926080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2958084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Re-fit μ against the τ-pruned graph. Report the cost model's error against measured throughput.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38383" y="2939796"/>
            <a:ext cx="493776" cy="30175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KJ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3355848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387851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Close the fixed-point gap. Make search edge weights reflect real cycle structure and quantify how far the chosen plans move.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38383" y="3369563"/>
            <a:ext cx="493776" cy="30175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KJ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39896"/>
            <a:ext cx="10911535" cy="42976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3785615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817620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Correctness suite across ranks and shapes, gating every measurement that follows.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38383" y="3799331"/>
            <a:ext cx="493776" cy="301752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4215383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4247388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End-to-end benchmark against the out-of-place baseline, measuring latency and peak memory.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38383" y="4229099"/>
            <a:ext cx="493776" cy="301752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99431"/>
            <a:ext cx="10911535" cy="42976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9808" y="4645151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4677155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Head-to-head against the closest prior systems on their reported shapes.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71455" y="4658867"/>
            <a:ext cx="493776" cy="30175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KJ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38383" y="4658867"/>
            <a:ext cx="493776" cy="301752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32" name="Oval 31"/>
          <p:cNvSpPr/>
          <p:nvPr/>
        </p:nvSpPr>
        <p:spPr>
          <a:xfrm>
            <a:off x="749808" y="5074919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3584" y="5106923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Derive D_post* from the comparison and enable routing.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38383" y="5088635"/>
            <a:ext cx="493776" cy="30175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KJ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458967"/>
            <a:ext cx="10911535" cy="42976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808" y="5504687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3584" y="5536691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Draft the report, with every number generated from committed 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71455" y="5518403"/>
            <a:ext cx="493776" cy="30175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KJ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38383" y="5518403"/>
            <a:ext cx="493776" cy="301752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5934455"/>
            <a:ext cx="320040" cy="320040"/>
          </a:xfrm>
          <a:prstGeom prst="ellipse">
            <a:avLst/>
          </a:prstGeom>
          <a:solidFill>
            <a:srgbClr val="1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" y="5966459"/>
            <a:ext cx="949421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C1B18"/>
                </a:solidFill>
                <a:latin typeface="Calibri"/>
              </a:rPr>
              <a:t>Final report and presentation.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71455" y="5948171"/>
            <a:ext cx="493776" cy="30175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KJ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838383" y="5948171"/>
            <a:ext cx="493776" cy="301752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457200"/>
            <a:ext cx="10161727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C1B18"/>
                </a:solidFill>
                <a:latin typeface="Cambria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6118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C1B18"/>
                </a:solidFill>
                <a:latin typeface="Calibri"/>
              </a:rPr>
              <a:t>Catanzaro, Keller, Garland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7408" y="1554480"/>
            <a:ext cx="525780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C1B18"/>
                </a:solidFill>
                <a:latin typeface="Calibri"/>
              </a:rPr>
              <a:t>A decomposition for in-place matrix transposition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1554480"/>
            <a:ext cx="20116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A65"/>
                </a:solidFill>
                <a:latin typeface="Calibri"/>
              </a:rPr>
              <a:t>PPoPP, 2014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07108"/>
            <a:ext cx="10911535" cy="10972"/>
          </a:xfrm>
          <a:prstGeom prst="rect">
            <a:avLst/>
          </a:prstGeom>
          <a:solidFill>
            <a:srgbClr val="DD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89404"/>
            <a:ext cx="36118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C1B18"/>
                </a:solidFill>
                <a:latin typeface="Calibri"/>
              </a:rPr>
              <a:t>Gómez-Luna, Sung, Chang, González-Linares, Guil, Hwu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2089404"/>
            <a:ext cx="525780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C1B18"/>
                </a:solidFill>
                <a:latin typeface="Calibri"/>
              </a:rPr>
              <a:t>In-place matrix transposition on GPUs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9935" y="2089404"/>
            <a:ext cx="20116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A65"/>
                </a:solidFill>
                <a:latin typeface="Calibri"/>
              </a:rPr>
              <a:t>IEEE TPDS, 2016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42032"/>
            <a:ext cx="10911535" cy="10972"/>
          </a:xfrm>
          <a:prstGeom prst="rect">
            <a:avLst/>
          </a:prstGeom>
          <a:solidFill>
            <a:srgbClr val="DD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8"/>
            <a:ext cx="36118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C1B18"/>
                </a:solidFill>
                <a:latin typeface="Calibri"/>
              </a:rPr>
              <a:t>Gustavson, Karlsson, Kågström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624328"/>
            <a:ext cx="525780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C1B18"/>
                </a:solidFill>
                <a:latin typeface="Calibri"/>
              </a:rPr>
              <a:t>Parallel and cache-efficient in-place matrix storage format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9935" y="2624328"/>
            <a:ext cx="20116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A65"/>
                </a:solidFill>
                <a:latin typeface="Calibri"/>
              </a:rPr>
              <a:t>ACM TOMS, 2012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76956"/>
            <a:ext cx="10911535" cy="10972"/>
          </a:xfrm>
          <a:prstGeom prst="rect">
            <a:avLst/>
          </a:prstGeom>
          <a:solidFill>
            <a:srgbClr val="DD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59252"/>
            <a:ext cx="36118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C1B18"/>
                </a:solidFill>
                <a:latin typeface="Calibri"/>
              </a:rPr>
              <a:t>Sung, Liu, Hwu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159252"/>
            <a:ext cx="525780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C1B18"/>
                </a:solidFill>
                <a:latin typeface="Calibri"/>
              </a:rPr>
              <a:t>DL: a data layout transformation system for heterogeneous computing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9935" y="3159252"/>
            <a:ext cx="20116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A65"/>
                </a:solidFill>
                <a:latin typeface="Calibri"/>
              </a:rPr>
              <a:t>InPar, 2012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11880"/>
            <a:ext cx="10911535" cy="10972"/>
          </a:xfrm>
          <a:prstGeom prst="rect">
            <a:avLst/>
          </a:prstGeom>
          <a:solidFill>
            <a:srgbClr val="DD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94176"/>
            <a:ext cx="36118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C1B18"/>
                </a:solidFill>
                <a:latin typeface="Calibri"/>
              </a:rPr>
              <a:t>Wu, Tu, Cheng, Lee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694176"/>
            <a:ext cx="525780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C1B18"/>
                </a:solidFill>
                <a:latin typeface="Calibri"/>
              </a:rPr>
              <a:t>EITHOT: efficient in-place transposition of high order tensors on GPUs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9935" y="3694176"/>
            <a:ext cx="20116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A65"/>
                </a:solidFill>
                <a:latin typeface="Calibri"/>
              </a:rPr>
              <a:t>ACM TOPC,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46804"/>
            <a:ext cx="10911535" cy="10972"/>
          </a:xfrm>
          <a:prstGeom prst="rect">
            <a:avLst/>
          </a:prstGeom>
          <a:solidFill>
            <a:srgbClr val="DD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29100"/>
            <a:ext cx="36118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C1B18"/>
                </a:solidFill>
                <a:latin typeface="Calibri"/>
              </a:rPr>
              <a:t>Cheng,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229100"/>
            <a:ext cx="525780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C1B18"/>
                </a:solidFill>
                <a:latin typeface="Calibri"/>
              </a:rPr>
              <a:t>ITTPD: in-place tensor transposition with permutation decomposition on GPUs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9935" y="4229100"/>
            <a:ext cx="20116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A65"/>
                </a:solidFill>
                <a:latin typeface="Calibri"/>
              </a:rPr>
              <a:t>HPCAsia,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81728"/>
            <a:ext cx="10911535" cy="10972"/>
          </a:xfrm>
          <a:prstGeom prst="rect">
            <a:avLst/>
          </a:prstGeom>
          <a:solidFill>
            <a:srgbClr val="DD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64024"/>
            <a:ext cx="36118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C1B18"/>
                </a:solidFill>
                <a:latin typeface="Calibri"/>
              </a:rPr>
              <a:t>Rajbhandari, Rasley, Ruwase, 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764024"/>
            <a:ext cx="525780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C1B18"/>
                </a:solidFill>
                <a:latin typeface="Calibri"/>
              </a:rPr>
              <a:t>ZeRO: memory optimizations toward training trillion parameter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9935" y="4764024"/>
            <a:ext cx="20116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A65"/>
                </a:solidFill>
                <a:latin typeface="Calibri"/>
              </a:rPr>
              <a:t>SC20, 2020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216652"/>
            <a:ext cx="10911535" cy="10972"/>
          </a:xfrm>
          <a:prstGeom prst="rect">
            <a:avLst/>
          </a:prstGeom>
          <a:solidFill>
            <a:srgbClr val="DD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98948"/>
            <a:ext cx="36118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C1B18"/>
                </a:solidFill>
                <a:latin typeface="Calibri"/>
              </a:rPr>
              <a:t>Dummit, Foote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5298948"/>
            <a:ext cx="525780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C1B18"/>
                </a:solidFill>
                <a:latin typeface="Calibri"/>
              </a:rPr>
              <a:t>Abstract Algebra, 3rd edition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9935" y="5298948"/>
            <a:ext cx="2011680" cy="425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B6A65"/>
                </a:solidFill>
                <a:latin typeface="Calibri"/>
              </a:rPr>
              <a:t>Wiley, 2003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751576"/>
            <a:ext cx="10911535" cy="10972"/>
          </a:xfrm>
          <a:prstGeom prst="rect">
            <a:avLst/>
          </a:prstGeom>
          <a:solidFill>
            <a:srgbClr val="DD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961888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1">
                <a:solidFill>
                  <a:srgbClr val="6B6A65"/>
                </a:solidFill>
                <a:latin typeface="Calibri"/>
              </a:rPr>
              <a:t>Full entries with pages and DOIs are in the proposal, along with three PyTorch sources omitted here for 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